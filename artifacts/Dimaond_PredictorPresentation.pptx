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2" r:id="rId4"/>
    <p:sldId id="258" r:id="rId5"/>
    <p:sldId id="263" r:id="rId6"/>
    <p:sldId id="265" r:id="rId7"/>
    <p:sldId id="266" r:id="rId8"/>
    <p:sldId id="267" r:id="rId9"/>
    <p:sldId id="264" r:id="rId10"/>
    <p:sldId id="268" r:id="rId11"/>
    <p:sldId id="269" r:id="rId12"/>
    <p:sldId id="272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AA5A62-81C0-480F-A651-2AEBFF891C0F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93077CD-1693-445E-879D-A81B4133FB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/>
            <a:t>The dataset contains physical and quality attributes of diamonds: carat, cut, color, clarity, depth, table, x, y, z, and price.</a:t>
          </a:r>
          <a:endParaRPr lang="en-US"/>
        </a:p>
      </dgm:t>
    </dgm:pt>
    <dgm:pt modelId="{2D54CC3A-2A6F-46B0-B92E-DD5066139CF3}" type="parTrans" cxnId="{AB0F30AA-735A-471D-9920-38ABC19B3235}">
      <dgm:prSet/>
      <dgm:spPr/>
      <dgm:t>
        <a:bodyPr/>
        <a:lstStyle/>
        <a:p>
          <a:endParaRPr lang="en-US"/>
        </a:p>
      </dgm:t>
    </dgm:pt>
    <dgm:pt modelId="{5A1FAB2B-6964-4FC0-8F15-724D5FFE785E}" type="sibTrans" cxnId="{AB0F30AA-735A-471D-9920-38ABC19B3235}">
      <dgm:prSet/>
      <dgm:spPr/>
      <dgm:t>
        <a:bodyPr/>
        <a:lstStyle/>
        <a:p>
          <a:endParaRPr lang="en-US"/>
        </a:p>
      </dgm:t>
    </dgm:pt>
    <dgm:pt modelId="{F971D168-C1F4-4414-9AB4-55A1562DC2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dirty="0"/>
            <a:t>Each row represents one diamond listing with measurable properties and market value.</a:t>
          </a:r>
          <a:endParaRPr lang="en-US" dirty="0"/>
        </a:p>
      </dgm:t>
    </dgm:pt>
    <dgm:pt modelId="{6D419F08-7197-4E98-865A-40E6BF680340}" type="parTrans" cxnId="{00ED87B1-41ED-4895-A08B-1D21E9601BEF}">
      <dgm:prSet/>
      <dgm:spPr/>
      <dgm:t>
        <a:bodyPr/>
        <a:lstStyle/>
        <a:p>
          <a:endParaRPr lang="en-US"/>
        </a:p>
      </dgm:t>
    </dgm:pt>
    <dgm:pt modelId="{37A76260-650D-4CC0-B4F7-97C05F53A5C4}" type="sibTrans" cxnId="{00ED87B1-41ED-4895-A08B-1D21E9601BEF}">
      <dgm:prSet/>
      <dgm:spPr/>
      <dgm:t>
        <a:bodyPr/>
        <a:lstStyle/>
        <a:p>
          <a:endParaRPr lang="en-US"/>
        </a:p>
      </dgm:t>
    </dgm:pt>
    <dgm:pt modelId="{7BEF1D5D-A669-4941-95F8-393E26C688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/>
            <a:t>This is a supervised learning problem with two business questions:</a:t>
          </a:r>
          <a:endParaRPr lang="en-US"/>
        </a:p>
      </dgm:t>
    </dgm:pt>
    <dgm:pt modelId="{A2B67AB7-C79D-4DFC-B2FC-325100BAB67B}" type="parTrans" cxnId="{E959AF76-0DC1-4F66-AC32-5D2493F979A0}">
      <dgm:prSet/>
      <dgm:spPr/>
      <dgm:t>
        <a:bodyPr/>
        <a:lstStyle/>
        <a:p>
          <a:endParaRPr lang="en-US"/>
        </a:p>
      </dgm:t>
    </dgm:pt>
    <dgm:pt modelId="{4BE5854D-993F-43B9-A5CD-FC79EC443F66}" type="sibTrans" cxnId="{E959AF76-0DC1-4F66-AC32-5D2493F979A0}">
      <dgm:prSet/>
      <dgm:spPr/>
      <dgm:t>
        <a:bodyPr/>
        <a:lstStyle/>
        <a:p>
          <a:endParaRPr lang="en-US"/>
        </a:p>
      </dgm:t>
    </dgm:pt>
    <dgm:pt modelId="{2631A19B-7E3A-4526-8682-766516AC4C1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Quality grading support (Cut prediction)</a:t>
          </a:r>
          <a:endParaRPr lang="en-US" dirty="0"/>
        </a:p>
      </dgm:t>
    </dgm:pt>
    <dgm:pt modelId="{53077F74-1F5A-4678-8D96-5E0DCD270132}" type="parTrans" cxnId="{0EB05B6D-C4FE-48E7-8C48-2E1DF241EFE3}">
      <dgm:prSet/>
      <dgm:spPr/>
      <dgm:t>
        <a:bodyPr/>
        <a:lstStyle/>
        <a:p>
          <a:endParaRPr lang="en-US"/>
        </a:p>
      </dgm:t>
    </dgm:pt>
    <dgm:pt modelId="{474B4701-D52C-4BC0-B8FB-A27B15110195}" type="sibTrans" cxnId="{0EB05B6D-C4FE-48E7-8C48-2E1DF241EFE3}">
      <dgm:prSet/>
      <dgm:spPr/>
      <dgm:t>
        <a:bodyPr/>
        <a:lstStyle/>
        <a:p>
          <a:endParaRPr lang="en-US"/>
        </a:p>
      </dgm:t>
    </dgm:pt>
    <dgm:pt modelId="{3B81E0BF-634A-4136-AF60-86735659011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Price estimation support (Price prediction)</a:t>
          </a:r>
          <a:endParaRPr lang="en-US"/>
        </a:p>
      </dgm:t>
    </dgm:pt>
    <dgm:pt modelId="{F8CCF8CA-EC50-4D05-A358-9F36BD333E51}" type="parTrans" cxnId="{508A6D3A-CA7A-45A4-9867-72330391ED92}">
      <dgm:prSet/>
      <dgm:spPr/>
      <dgm:t>
        <a:bodyPr/>
        <a:lstStyle/>
        <a:p>
          <a:endParaRPr lang="en-US"/>
        </a:p>
      </dgm:t>
    </dgm:pt>
    <dgm:pt modelId="{09A0FC4F-10C7-4FBC-B4F0-B050C9A3DE79}" type="sibTrans" cxnId="{508A6D3A-CA7A-45A4-9867-72330391ED92}">
      <dgm:prSet/>
      <dgm:spPr/>
      <dgm:t>
        <a:bodyPr/>
        <a:lstStyle/>
        <a:p>
          <a:endParaRPr lang="en-US"/>
        </a:p>
      </dgm:t>
    </dgm:pt>
    <dgm:pt modelId="{556D5151-FD75-674C-AB4D-5BA99316CA74}" type="pres">
      <dgm:prSet presAssocID="{B3AA5A62-81C0-480F-A651-2AEBFF891C0F}" presName="Name0" presStyleCnt="0">
        <dgm:presLayoutVars>
          <dgm:dir/>
          <dgm:resizeHandles val="exact"/>
        </dgm:presLayoutVars>
      </dgm:prSet>
      <dgm:spPr/>
    </dgm:pt>
    <dgm:pt modelId="{CFA7CB9E-3B1A-9B4C-A998-4ED72F8286FB}" type="pres">
      <dgm:prSet presAssocID="{393077CD-1693-445E-879D-A81B4133FB8E}" presName="parAndChTx" presStyleLbl="node1" presStyleIdx="0" presStyleCnt="3">
        <dgm:presLayoutVars>
          <dgm:bulletEnabled val="1"/>
        </dgm:presLayoutVars>
      </dgm:prSet>
      <dgm:spPr/>
    </dgm:pt>
    <dgm:pt modelId="{D23F76C0-5E10-1C43-84E9-83DE2525A462}" type="pres">
      <dgm:prSet presAssocID="{5A1FAB2B-6964-4FC0-8F15-724D5FFE785E}" presName="parAndChSpace" presStyleCnt="0"/>
      <dgm:spPr/>
    </dgm:pt>
    <dgm:pt modelId="{F8BDC252-F9F5-374C-86DE-E984D28AD660}" type="pres">
      <dgm:prSet presAssocID="{F971D168-C1F4-4414-9AB4-55A1562DC213}" presName="parAndChTx" presStyleLbl="node1" presStyleIdx="1" presStyleCnt="3">
        <dgm:presLayoutVars>
          <dgm:bulletEnabled val="1"/>
        </dgm:presLayoutVars>
      </dgm:prSet>
      <dgm:spPr/>
    </dgm:pt>
    <dgm:pt modelId="{B1191EBD-F53B-7C44-8985-C41C47270544}" type="pres">
      <dgm:prSet presAssocID="{37A76260-650D-4CC0-B4F7-97C05F53A5C4}" presName="parAndChSpace" presStyleCnt="0"/>
      <dgm:spPr/>
    </dgm:pt>
    <dgm:pt modelId="{B0AAB0A8-B206-584B-A910-D6D0304CC529}" type="pres">
      <dgm:prSet presAssocID="{7BEF1D5D-A669-4941-95F8-393E26C68884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D26AB00A-5B74-CB44-B63B-69A1336F9B42}" type="presOf" srcId="{F971D168-C1F4-4414-9AB4-55A1562DC213}" destId="{F8BDC252-F9F5-374C-86DE-E984D28AD660}" srcOrd="0" destOrd="0" presId="urn:microsoft.com/office/officeart/2005/8/layout/hChevron3"/>
    <dgm:cxn modelId="{7FB72418-EE84-1540-953A-861750394D40}" type="presOf" srcId="{B3AA5A62-81C0-480F-A651-2AEBFF891C0F}" destId="{556D5151-FD75-674C-AB4D-5BA99316CA74}" srcOrd="0" destOrd="0" presId="urn:microsoft.com/office/officeart/2005/8/layout/hChevron3"/>
    <dgm:cxn modelId="{4C47B41D-E1AD-1C4E-BCC0-3767ECC56266}" type="presOf" srcId="{7BEF1D5D-A669-4941-95F8-393E26C68884}" destId="{B0AAB0A8-B206-584B-A910-D6D0304CC529}" srcOrd="0" destOrd="0" presId="urn:microsoft.com/office/officeart/2005/8/layout/hChevron3"/>
    <dgm:cxn modelId="{508A6D3A-CA7A-45A4-9867-72330391ED92}" srcId="{7BEF1D5D-A669-4941-95F8-393E26C68884}" destId="{3B81E0BF-634A-4136-AF60-867356590113}" srcOrd="1" destOrd="0" parTransId="{F8CCF8CA-EC50-4D05-A358-9F36BD333E51}" sibTransId="{09A0FC4F-10C7-4FBC-B4F0-B050C9A3DE79}"/>
    <dgm:cxn modelId="{0EB05B6D-C4FE-48E7-8C48-2E1DF241EFE3}" srcId="{7BEF1D5D-A669-4941-95F8-393E26C68884}" destId="{2631A19B-7E3A-4526-8682-766516AC4C17}" srcOrd="0" destOrd="0" parTransId="{53077F74-1F5A-4678-8D96-5E0DCD270132}" sibTransId="{474B4701-D52C-4BC0-B8FB-A27B15110195}"/>
    <dgm:cxn modelId="{11EEEF74-902D-E742-824C-F460334416D3}" type="presOf" srcId="{2631A19B-7E3A-4526-8682-766516AC4C17}" destId="{B0AAB0A8-B206-584B-A910-D6D0304CC529}" srcOrd="0" destOrd="1" presId="urn:microsoft.com/office/officeart/2005/8/layout/hChevron3"/>
    <dgm:cxn modelId="{E959AF76-0DC1-4F66-AC32-5D2493F979A0}" srcId="{B3AA5A62-81C0-480F-A651-2AEBFF891C0F}" destId="{7BEF1D5D-A669-4941-95F8-393E26C68884}" srcOrd="2" destOrd="0" parTransId="{A2B67AB7-C79D-4DFC-B2FC-325100BAB67B}" sibTransId="{4BE5854D-993F-43B9-A5CD-FC79EC443F66}"/>
    <dgm:cxn modelId="{AB0F30AA-735A-471D-9920-38ABC19B3235}" srcId="{B3AA5A62-81C0-480F-A651-2AEBFF891C0F}" destId="{393077CD-1693-445E-879D-A81B4133FB8E}" srcOrd="0" destOrd="0" parTransId="{2D54CC3A-2A6F-46B0-B92E-DD5066139CF3}" sibTransId="{5A1FAB2B-6964-4FC0-8F15-724D5FFE785E}"/>
    <dgm:cxn modelId="{C6D6E3AB-0ED3-204A-B48F-63B460A72733}" type="presOf" srcId="{393077CD-1693-445E-879D-A81B4133FB8E}" destId="{CFA7CB9E-3B1A-9B4C-A998-4ED72F8286FB}" srcOrd="0" destOrd="0" presId="urn:microsoft.com/office/officeart/2005/8/layout/hChevron3"/>
    <dgm:cxn modelId="{00ED87B1-41ED-4895-A08B-1D21E9601BEF}" srcId="{B3AA5A62-81C0-480F-A651-2AEBFF891C0F}" destId="{F971D168-C1F4-4414-9AB4-55A1562DC213}" srcOrd="1" destOrd="0" parTransId="{6D419F08-7197-4E98-865A-40E6BF680340}" sibTransId="{37A76260-650D-4CC0-B4F7-97C05F53A5C4}"/>
    <dgm:cxn modelId="{0C9D55D7-7ABD-C741-A5A7-7E4C2FE0404C}" type="presOf" srcId="{3B81E0BF-634A-4136-AF60-867356590113}" destId="{B0AAB0A8-B206-584B-A910-D6D0304CC529}" srcOrd="0" destOrd="2" presId="urn:microsoft.com/office/officeart/2005/8/layout/hChevron3"/>
    <dgm:cxn modelId="{FBBB1449-71A7-9343-BE35-FDFCDDC46302}" type="presParOf" srcId="{556D5151-FD75-674C-AB4D-5BA99316CA74}" destId="{CFA7CB9E-3B1A-9B4C-A998-4ED72F8286FB}" srcOrd="0" destOrd="0" presId="urn:microsoft.com/office/officeart/2005/8/layout/hChevron3"/>
    <dgm:cxn modelId="{7DB80205-63EA-AA4D-B21C-DBDD7FE7B3E8}" type="presParOf" srcId="{556D5151-FD75-674C-AB4D-5BA99316CA74}" destId="{D23F76C0-5E10-1C43-84E9-83DE2525A462}" srcOrd="1" destOrd="0" presId="urn:microsoft.com/office/officeart/2005/8/layout/hChevron3"/>
    <dgm:cxn modelId="{6781B18E-DBF0-0943-A77B-DBCCAE34FC0D}" type="presParOf" srcId="{556D5151-FD75-674C-AB4D-5BA99316CA74}" destId="{F8BDC252-F9F5-374C-86DE-E984D28AD660}" srcOrd="2" destOrd="0" presId="urn:microsoft.com/office/officeart/2005/8/layout/hChevron3"/>
    <dgm:cxn modelId="{B662E347-C958-DC43-9106-717EA2770DF4}" type="presParOf" srcId="{556D5151-FD75-674C-AB4D-5BA99316CA74}" destId="{B1191EBD-F53B-7C44-8985-C41C47270544}" srcOrd="3" destOrd="0" presId="urn:microsoft.com/office/officeart/2005/8/layout/hChevron3"/>
    <dgm:cxn modelId="{9BB0A82B-136A-1940-9982-5243349BC279}" type="presParOf" srcId="{556D5151-FD75-674C-AB4D-5BA99316CA74}" destId="{B0AAB0A8-B206-584B-A910-D6D0304CC52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7CB9E-3B1A-9B4C-A998-4ED72F8286FB}">
      <dsp:nvSpPr>
        <dsp:cNvPr id="0" name=""/>
        <dsp:cNvSpPr/>
      </dsp:nvSpPr>
      <dsp:spPr>
        <a:xfrm>
          <a:off x="4802" y="416675"/>
          <a:ext cx="4199317" cy="3359453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53340" rIns="592570" bIns="5334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100" kern="1200"/>
            <a:t>The dataset contains physical and quality attributes of diamonds: carat, cut, color, clarity, depth, table, x, y, z, and price.</a:t>
          </a:r>
          <a:endParaRPr lang="en-US" sz="2100" kern="1200"/>
        </a:p>
      </dsp:txBody>
      <dsp:txXfrm>
        <a:off x="4802" y="416675"/>
        <a:ext cx="3779385" cy="3359453"/>
      </dsp:txXfrm>
    </dsp:sp>
    <dsp:sp modelId="{F8BDC252-F9F5-374C-86DE-E984D28AD660}">
      <dsp:nvSpPr>
        <dsp:cNvPr id="0" name=""/>
        <dsp:cNvSpPr/>
      </dsp:nvSpPr>
      <dsp:spPr>
        <a:xfrm>
          <a:off x="3364255" y="416675"/>
          <a:ext cx="4199317" cy="3359453"/>
        </a:xfrm>
        <a:prstGeom prst="chevron">
          <a:avLst>
            <a:gd name="adj" fmla="val 2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53340" rIns="148143" bIns="5334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100" kern="1200" dirty="0"/>
            <a:t>Each row represents one diamond listing with measurable properties and market value.</a:t>
          </a:r>
          <a:endParaRPr lang="en-US" sz="2100" kern="1200" dirty="0"/>
        </a:p>
      </dsp:txBody>
      <dsp:txXfrm>
        <a:off x="4204118" y="416675"/>
        <a:ext cx="2519591" cy="3359453"/>
      </dsp:txXfrm>
    </dsp:sp>
    <dsp:sp modelId="{B0AAB0A8-B206-584B-A910-D6D0304CC529}">
      <dsp:nvSpPr>
        <dsp:cNvPr id="0" name=""/>
        <dsp:cNvSpPr/>
      </dsp:nvSpPr>
      <dsp:spPr>
        <a:xfrm>
          <a:off x="6723709" y="416675"/>
          <a:ext cx="4199317" cy="3359453"/>
        </a:xfrm>
        <a:prstGeom prst="chevron">
          <a:avLst>
            <a:gd name="adj" fmla="val 2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53340" rIns="148143" bIns="5334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100" kern="1200"/>
            <a:t>This is a supervised learning problem with two business questions:</a:t>
          </a:r>
          <a:endParaRPr lang="en-US" sz="2100" kern="120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600" kern="1200" dirty="0"/>
            <a:t>Quality grading support (Cut prediction)</a:t>
          </a:r>
          <a:endParaRPr lang="en-U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600" kern="1200"/>
            <a:t>Price estimation support (Price prediction)</a:t>
          </a:r>
          <a:endParaRPr lang="en-US" sz="1600" kern="1200"/>
        </a:p>
      </dsp:txBody>
      <dsp:txXfrm>
        <a:off x="7563572" y="416675"/>
        <a:ext cx="2519591" cy="3359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EAB53-FA2A-5542-AB64-68B3D9DF0A7B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454E8-84E9-384F-840E-FE4B15615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7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454E8-84E9-384F-840E-FE4B15615E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80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30F7-52C5-3771-413F-96377D2E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55E26-61A3-067E-FDD2-6863C79DB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DBAA-8E2B-48D4-B01F-E25A664A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30888-CA47-9611-F082-1D932277B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CE0F1-8055-B8F9-194D-0561C7F7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4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4AA0-CACA-89DF-0CA8-6D186B52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BE69-E268-07DE-DF03-E03D41FB1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50003-9913-E775-3893-B994B5BD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F1212-5AA9-533C-1746-728A7A7E8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E3086-AD20-4E09-22F3-1863A809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3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6D3B-B075-C23B-ACB8-BFA2F381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1B862-8663-D2B4-58ED-E92725404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5232D-CA76-3E03-17CB-F239F4A9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43571-3BCA-B5C4-504E-76AF6552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7412B-80C6-698E-0AE2-1A6CBE47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57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5866-8A3D-03B4-149D-1B1795F2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3D4C0-2D0C-D525-B474-A8992B97C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D8038-6B0C-38AF-B736-4E09D5E2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988AE-2BE7-DC67-DD07-4046143D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DF0A0-FB97-71F0-2E26-9828ECFE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ED530-6EF7-6085-AE45-63DDCCD9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6727-B83A-E080-7F5F-BF15E514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CD2B6-7E01-95DE-87F9-9710D806B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81AA0-96E0-D4F7-A128-B5FED1947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4A86C-9E95-EF42-CF21-E29D9F1D2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3A447-4CA2-5452-42CF-11CAD970E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7EB1C6-069D-7276-4560-663BC8B0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E7784-0F88-2EE2-F19D-31C05AFD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46BCE-2C89-04CC-3EF7-327BC25C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2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A5FB-A369-5BE6-C16A-8B17F938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92FF3-F0B7-D86D-E44E-6CADC84F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4090C-F6B8-AA80-4314-9E1AD590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165F3-947D-A32B-F66B-AAE7A11F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7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5FE21-7F37-51D2-C887-4FA6891D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8D851-E09D-221E-9521-CE7883772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77BFA-B112-22DB-E8A1-AE55F7ED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7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14E3-B3D7-9B5A-4004-89A73488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2CD1D-2EFB-CEE5-93E2-2EFF07F6A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61A83-0C51-7CF6-2B34-0AA02C8AF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17369-D8F2-F2EE-1CF3-17ECC27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2583D-2E74-27A1-A143-B68272EA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DB6B5-578A-BE90-9B70-B4199F16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4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0785-A07C-1C8E-860F-0F93FBF8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6AB56-F01F-6235-A630-49A1CBBAD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1323A-7F43-9908-FCFC-302E76F89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17E59-A1B0-405A-ECB5-35720C32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62103-1255-F44B-AF4F-8DD08C65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52111-1EE0-B8D7-F96F-FDE90AF3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4B6A-E1F1-6123-6986-03DFD651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99BEA-B49E-BA29-EBA9-B31373CA1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8B770-AE9F-8255-4A75-F1AC12EA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FEA4-80E5-CA61-4F54-24593B923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0BBE3-29B5-EA51-5206-F2BDBBC5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285F8-A2FC-E2DC-7DD6-BD02180AD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3772F-1707-7FA2-44C7-60C03315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F398-C47C-BF7E-A9A5-BDB95DEC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AF6D-78BF-7698-525E-E238EDF1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F19F5-3CC4-082F-DBAD-09163FE5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907F5-7317-07A3-399B-BEA28F32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FCB6D-3291-F7C6-1CDC-9D7EB4F59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2DFB1-6FD6-3F9F-F0FB-78EA4A440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A9230-E1EC-2748-96C3-5A77A05C7F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73657-643A-56AF-6780-BB2C106BF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4F498-4F2D-459C-C48E-78362D657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13A47-CBD9-A04F-AE68-33C4E2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7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Applications/Visual%20Studio%20Code.app/Contents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Applications/Visual%20Studio%20Code.app/Contents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Applications/Visual%20Studio%20Code.app/Contents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Applications/Visual%20Studio%20Code.app/Contents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t diamond">
            <a:extLst>
              <a:ext uri="{FF2B5EF4-FFF2-40B4-BE49-F238E27FC236}">
                <a16:creationId xmlns:a16="http://schemas.microsoft.com/office/drawing/2014/main" id="{B09BAB89-F506-0C49-0325-1A66AF990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594A9-748D-6D52-F30B-7CAABA15D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/>
              <a:t>Diamonds Predictor Platform</a:t>
            </a:r>
            <a:br>
              <a:rPr lang="en-US" sz="3700"/>
            </a:br>
            <a:endParaRPr lang="en-US" sz="3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8EDCD-C13A-C98E-BA82-55F3592E3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- Unified ML workflow for analysis, prediction.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- Handles classification, regression in one pipeline.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Produces reusable artifacts (plots + metrics) for reporting.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This project converts raw diamonds data into business-ready insights and model outputs.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59780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592F4-CFF6-E0D2-7F7C-C57B6F89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3400">
                <a:solidFill>
                  <a:srgbClr val="FFFFFF"/>
                </a:solidFill>
              </a:rPr>
              <a:t>Diamonds Dataset: What We Are Predicting and Why</a:t>
            </a: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07A9BE-B17F-3DE2-8742-E8870666C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4061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346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ngled shot of pen on a graph">
            <a:extLst>
              <a:ext uri="{FF2B5EF4-FFF2-40B4-BE49-F238E27FC236}">
                <a16:creationId xmlns:a16="http://schemas.microsoft.com/office/drawing/2014/main" id="{396C36CB-7ECD-81BB-E82C-778E01DC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6EB7A-F4F1-4072-B017-F88FEB43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CA" sz="4000"/>
              <a:t>Business Value</a:t>
            </a:r>
            <a:endParaRPr lang="en-US" sz="400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2B85D6A-166D-2C2C-D188-E55FFF6AF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400"/>
              <a:t>Supports consistent quality labeling</a:t>
            </a:r>
          </a:p>
          <a:p>
            <a:r>
              <a:rPr lang="en-US" sz="1400"/>
              <a:t>Reduces manual grading variation</a:t>
            </a:r>
          </a:p>
          <a:p>
            <a:r>
              <a:rPr lang="en-US" sz="1400"/>
              <a:t>Improves trust in catalog quality tags</a:t>
            </a:r>
          </a:p>
          <a:p>
            <a:r>
              <a:rPr lang="en-US" sz="1400"/>
              <a:t>This helps teams standardize quality assessments at scale.</a:t>
            </a:r>
          </a:p>
          <a:p>
            <a:r>
              <a:rPr lang="en-US" sz="1400"/>
              <a:t>Faster and more consistent pricing decisions</a:t>
            </a:r>
          </a:p>
          <a:p>
            <a:r>
              <a:rPr lang="en-US" sz="1400"/>
              <a:t>Better quote accuracy</a:t>
            </a:r>
          </a:p>
          <a:p>
            <a:r>
              <a:rPr lang="en-US" sz="1400"/>
              <a:t>Reduced risk of underpricing or overpricing</a:t>
            </a:r>
          </a:p>
          <a:p>
            <a:r>
              <a:rPr lang="en-US" sz="1400"/>
              <a:t>This gives practical decision support for sales, procurement, and inventory planning.</a:t>
            </a:r>
          </a:p>
        </p:txBody>
      </p:sp>
    </p:spTree>
    <p:extLst>
      <p:ext uri="{BB962C8B-B14F-4D97-AF65-F5344CB8AC3E}">
        <p14:creationId xmlns:p14="http://schemas.microsoft.com/office/powerpoint/2010/main" val="294533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6DB38C-EEC4-34BB-97DE-2CA99CA2F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CA" sz="3200" dirty="0"/>
              <a:t>Main Pipeline Controller</a:t>
            </a:r>
            <a:br>
              <a:rPr lang="en-CA" sz="5100" dirty="0"/>
            </a:br>
            <a:endParaRPr lang="en-US" sz="51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46DF9DB2-5C3D-BB5A-C0EB-D640BF31A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CA" sz="1000" dirty="0"/>
              <a:t>Acts as the end-to-end orchestrator for analysis, classification, regression, and model persistence.</a:t>
            </a:r>
          </a:p>
          <a:p>
            <a:r>
              <a:rPr lang="en-CA" sz="1000" dirty="0"/>
              <a:t>Standardizes data cleanup via </a:t>
            </a:r>
            <a:r>
              <a:rPr lang="en-CA" sz="1000" dirty="0" err="1"/>
              <a:t>prepare_clean_data</a:t>
            </a:r>
            <a:r>
              <a:rPr lang="en-CA" sz="1000" dirty="0"/>
              <a:t> before downstream tasks.</a:t>
            </a:r>
          </a:p>
          <a:p>
            <a:r>
              <a:rPr lang="en-CA" sz="1000" dirty="0"/>
              <a:t>Runs analysis artifact generation through </a:t>
            </a:r>
            <a:r>
              <a:rPr lang="en-CA" sz="1000" dirty="0" err="1"/>
              <a:t>run_analyzer</a:t>
            </a:r>
            <a:r>
              <a:rPr lang="en-CA" sz="1000" dirty="0"/>
              <a:t>.</a:t>
            </a:r>
          </a:p>
          <a:p>
            <a:r>
              <a:rPr lang="en-CA" sz="1000" dirty="0"/>
              <a:t>Builds classification pipeline in </a:t>
            </a:r>
            <a:r>
              <a:rPr lang="en-CA" sz="1000" dirty="0" err="1"/>
              <a:t>run_classification</a:t>
            </a:r>
            <a:r>
              <a:rPr lang="en-CA" sz="1000" dirty="0"/>
              <a:t> with mixed preprocessing:</a:t>
            </a:r>
          </a:p>
          <a:p>
            <a:pPr lvl="1"/>
            <a:r>
              <a:rPr lang="en-CA" sz="1000" dirty="0"/>
              <a:t>One-hot encoding for categorical inputs</a:t>
            </a:r>
          </a:p>
          <a:p>
            <a:pPr lvl="1"/>
            <a:r>
              <a:rPr lang="en-CA" sz="1000" dirty="0"/>
              <a:t>Standard scaling for numeric inputs</a:t>
            </a:r>
          </a:p>
          <a:p>
            <a:r>
              <a:rPr lang="en-CA" sz="1000" dirty="0"/>
              <a:t>Builds regression pipeline in </a:t>
            </a:r>
            <a:r>
              <a:rPr lang="en-CA" sz="1000" dirty="0" err="1"/>
              <a:t>run_regression</a:t>
            </a:r>
            <a:r>
              <a:rPr lang="en-CA" sz="1000" dirty="0"/>
              <a:t> using transformed features from </a:t>
            </a:r>
            <a:r>
              <a:rPr lang="en-CA" sz="1000" dirty="0" err="1"/>
              <a:t>build_regression_xy</a:t>
            </a:r>
            <a:r>
              <a:rPr lang="en-CA" sz="1000" dirty="0"/>
              <a:t>.</a:t>
            </a:r>
          </a:p>
          <a:p>
            <a:r>
              <a:rPr lang="en-CA" sz="1000" dirty="0"/>
              <a:t>Persists deployable models through </a:t>
            </a:r>
            <a:r>
              <a:rPr lang="en-CA" sz="1000" dirty="0" err="1"/>
              <a:t>train_and_save_svc_model</a:t>
            </a:r>
            <a:r>
              <a:rPr lang="en-CA" sz="1000" dirty="0"/>
              <a:t> and </a:t>
            </a:r>
            <a:r>
              <a:rPr lang="en-CA" sz="1000" dirty="0" err="1"/>
              <a:t>train_and_save_ann_model</a:t>
            </a:r>
            <a:r>
              <a:rPr lang="en-CA" sz="1000" dirty="0"/>
              <a:t>.</a:t>
            </a:r>
          </a:p>
          <a:p>
            <a:r>
              <a:rPr lang="en-CA" sz="1000" dirty="0"/>
              <a:t>Entry point in main block handles sampling, user prompts, pipeline execution order, and metric/plot output.</a:t>
            </a:r>
          </a:p>
          <a:p>
            <a:br>
              <a:rPr lang="en-CA" sz="1000" dirty="0"/>
            </a:b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FA84C-7EAE-B6B8-0E32-5EB480263E1C}"/>
              </a:ext>
            </a:extLst>
          </p:cNvPr>
          <p:cNvSpPr txBox="1"/>
          <p:nvPr/>
        </p:nvSpPr>
        <p:spPr>
          <a:xfrm>
            <a:off x="5296071" y="1187205"/>
            <a:ext cx="2661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dirty="0"/>
              <a:t>Scope:</a:t>
            </a:r>
            <a:br>
              <a:rPr lang="en-CA" sz="1200" dirty="0"/>
            </a:br>
            <a:r>
              <a:rPr lang="en-CA" sz="1200" dirty="0">
                <a:hlinkClick r:id="rId2"/>
              </a:rPr>
              <a:t>Main.py</a:t>
            </a:r>
            <a:endParaRPr lang="en-CA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65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FFAE9-3CB2-08B6-632D-AF9A06B3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Triangle 5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B1F40-85E7-F918-E677-0F8EA788B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CA" sz="3200" dirty="0"/>
              <a:t>Analyzer Module for Data Health and EDA</a:t>
            </a:r>
            <a:br>
              <a:rPr lang="en-CA" sz="5100" dirty="0"/>
            </a:br>
            <a:endParaRPr lang="en-US" sz="51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A73C4E86-4C92-C35C-FF3A-C3B07C856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Autofit/>
          </a:bodyPr>
          <a:lstStyle/>
          <a:p>
            <a:r>
              <a:rPr lang="en-CA" sz="1200" dirty="0"/>
              <a:t>Scope:</a:t>
            </a:r>
            <a:br>
              <a:rPr lang="en-CA" sz="1200" dirty="0"/>
            </a:br>
            <a:r>
              <a:rPr lang="en-CA" sz="1200" dirty="0">
                <a:hlinkClick r:id="rId2"/>
              </a:rPr>
              <a:t>Analyzer.py</a:t>
            </a:r>
            <a:endParaRPr lang="en-CA" sz="1200" dirty="0"/>
          </a:p>
          <a:p>
            <a:r>
              <a:rPr lang="en-CA" sz="1200" dirty="0"/>
              <a:t>Bullets:</a:t>
            </a:r>
          </a:p>
          <a:p>
            <a:r>
              <a:rPr lang="en-CA" sz="1200" dirty="0"/>
              <a:t>Loads raw CSV into memory and provides dataset diagnostics.</a:t>
            </a:r>
          </a:p>
          <a:p>
            <a:r>
              <a:rPr lang="en-CA" sz="1200" dirty="0"/>
              <a:t>Enforces cleaning helpers:</a:t>
            </a:r>
          </a:p>
          <a:p>
            <a:pPr lvl="1"/>
            <a:r>
              <a:rPr lang="en-CA" sz="1200" dirty="0"/>
              <a:t>Drop auto-generated unnamed columns</a:t>
            </a:r>
          </a:p>
          <a:p>
            <a:pPr lvl="1"/>
            <a:r>
              <a:rPr lang="en-CA" sz="1200" dirty="0"/>
              <a:t>Drop missing rows</a:t>
            </a:r>
          </a:p>
          <a:p>
            <a:pPr lvl="1"/>
            <a:r>
              <a:rPr lang="en-CA" sz="1200" dirty="0"/>
              <a:t>Optional shuffle for deterministic data order</a:t>
            </a:r>
          </a:p>
          <a:p>
            <a:r>
              <a:rPr lang="en-CA" sz="1200" dirty="0" err="1"/>
              <a:t>preprocess_data</a:t>
            </a:r>
            <a:r>
              <a:rPr lang="en-CA" sz="1200" dirty="0"/>
              <a:t> performs:</a:t>
            </a:r>
          </a:p>
          <a:p>
            <a:pPr lvl="1"/>
            <a:r>
              <a:rPr lang="en-CA" sz="1200" dirty="0"/>
              <a:t>Missing value handling</a:t>
            </a:r>
          </a:p>
          <a:p>
            <a:pPr lvl="1"/>
            <a:r>
              <a:rPr lang="en-CA" sz="1200" dirty="0"/>
              <a:t>Label encoding for string columns</a:t>
            </a:r>
          </a:p>
          <a:p>
            <a:pPr lvl="1"/>
            <a:r>
              <a:rPr lang="en-CA" sz="1200" dirty="0"/>
              <a:t>Standard scaling of resulting numeric frame</a:t>
            </a:r>
          </a:p>
          <a:p>
            <a:r>
              <a:rPr lang="en-CA" sz="1200" dirty="0"/>
              <a:t>Produces core EDA artifacts:</a:t>
            </a:r>
          </a:p>
          <a:p>
            <a:pPr lvl="1"/>
            <a:r>
              <a:rPr lang="en-CA" sz="1200" dirty="0"/>
              <a:t>Correlation matrix</a:t>
            </a:r>
          </a:p>
          <a:p>
            <a:pPr lvl="1"/>
            <a:r>
              <a:rPr lang="en-CA" sz="1200" dirty="0" err="1"/>
              <a:t>Pairplot</a:t>
            </a:r>
            <a:endParaRPr lang="en-CA" sz="1200" dirty="0"/>
          </a:p>
          <a:p>
            <a:pPr lvl="1"/>
            <a:r>
              <a:rPr lang="en-CA" sz="1200" dirty="0"/>
              <a:t>Numerical histograms</a:t>
            </a:r>
          </a:p>
          <a:p>
            <a:pPr lvl="1"/>
            <a:r>
              <a:rPr lang="en-CA" sz="1200" dirty="0"/>
              <a:t>Categorical histograms</a:t>
            </a:r>
          </a:p>
          <a:p>
            <a:pPr lvl="1"/>
            <a:r>
              <a:rPr lang="en-CA" sz="1200" dirty="0"/>
              <a:t>Boxplots</a:t>
            </a:r>
          </a:p>
          <a:p>
            <a:r>
              <a:rPr lang="en-CA" sz="1200" dirty="0"/>
              <a:t>Exports cleaned dataset for downstream modeling.</a:t>
            </a:r>
          </a:p>
        </p:txBody>
      </p:sp>
    </p:spTree>
    <p:extLst>
      <p:ext uri="{BB962C8B-B14F-4D97-AF65-F5344CB8AC3E}">
        <p14:creationId xmlns:p14="http://schemas.microsoft.com/office/powerpoint/2010/main" val="401514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ar chart with text&#10;&#10;AI-generated content may be incorrect.">
            <a:extLst>
              <a:ext uri="{FF2B5EF4-FFF2-40B4-BE49-F238E27FC236}">
                <a16:creationId xmlns:a16="http://schemas.microsoft.com/office/drawing/2014/main" id="{E9707BE0-F90B-D561-ABC2-BA41839AC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524" y="0"/>
            <a:ext cx="3645930" cy="2734448"/>
          </a:xfrm>
          <a:prstGeom prst="rect">
            <a:avLst/>
          </a:prstGeom>
        </p:spPr>
      </p:pic>
      <p:pic>
        <p:nvPicPr>
          <p:cNvPr id="7" name="Picture 6" descr="A bar chart with blue bars&#10;&#10;AI-generated content may be incorrect.">
            <a:extLst>
              <a:ext uri="{FF2B5EF4-FFF2-40B4-BE49-F238E27FC236}">
                <a16:creationId xmlns:a16="http://schemas.microsoft.com/office/drawing/2014/main" id="{25959205-5B83-9BB9-6334-5BC14731A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454" y="0"/>
            <a:ext cx="3113901" cy="2335426"/>
          </a:xfrm>
          <a:prstGeom prst="rect">
            <a:avLst/>
          </a:prstGeom>
        </p:spPr>
      </p:pic>
      <p:pic>
        <p:nvPicPr>
          <p:cNvPr id="9" name="Picture 8" descr="A bar chart with text&#10;&#10;AI-generated content may be incorrect.">
            <a:extLst>
              <a:ext uri="{FF2B5EF4-FFF2-40B4-BE49-F238E27FC236}">
                <a16:creationId xmlns:a16="http://schemas.microsoft.com/office/drawing/2014/main" id="{ECA88857-FB20-1F85-5377-8D2CF4DDE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669" y="0"/>
            <a:ext cx="3645929" cy="2734447"/>
          </a:xfrm>
          <a:prstGeom prst="rect">
            <a:avLst/>
          </a:prstGeom>
        </p:spPr>
      </p:pic>
      <p:pic>
        <p:nvPicPr>
          <p:cNvPr id="11" name="Picture 10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7517D165-CC60-FADD-6C1D-7E76986C9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34448"/>
            <a:ext cx="5721951" cy="3814634"/>
          </a:xfrm>
          <a:prstGeom prst="rect">
            <a:avLst/>
          </a:prstGeom>
        </p:spPr>
      </p:pic>
      <p:pic>
        <p:nvPicPr>
          <p:cNvPr id="13" name="Picture 12" descr="A diagram of a box plot&#10;&#10;AI-generated content may be incorrect.">
            <a:extLst>
              <a:ext uri="{FF2B5EF4-FFF2-40B4-BE49-F238E27FC236}">
                <a16:creationId xmlns:a16="http://schemas.microsoft.com/office/drawing/2014/main" id="{52709324-0FCB-E26E-7067-BB28E2B3F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2475" y="2734447"/>
            <a:ext cx="4099011" cy="30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4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of data on a white background&#10;&#10;AI-generated content may be incorrect.">
            <a:extLst>
              <a:ext uri="{FF2B5EF4-FFF2-40B4-BE49-F238E27FC236}">
                <a16:creationId xmlns:a16="http://schemas.microsoft.com/office/drawing/2014/main" id="{8F851AAB-A857-133E-B1A3-793C97894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1067" y="259492"/>
            <a:ext cx="12342350" cy="630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9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81C85D48-A3FC-8BFB-CD65-F1B88C890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622" y="-3874"/>
            <a:ext cx="11380573" cy="671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7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E30E7-154C-7848-D3CA-A71A8F6E3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Triangle 5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E2EB3-3DBF-EDBC-FB31-ECEE480C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CA" sz="3200" dirty="0"/>
              <a:t>Classifier Module for Cut Prediction</a:t>
            </a:r>
            <a:br>
              <a:rPr lang="en-CA" sz="5100" dirty="0"/>
            </a:br>
            <a:endParaRPr lang="en-US" sz="51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A110F533-E98F-DC0F-A00A-CFE6E6862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775" y="852616"/>
            <a:ext cx="5252333" cy="4356514"/>
          </a:xfrm>
        </p:spPr>
        <p:txBody>
          <a:bodyPr anchor="ctr">
            <a:normAutofit fontScale="32500" lnSpcReduction="20000"/>
          </a:bodyPr>
          <a:lstStyle/>
          <a:p>
            <a:r>
              <a:rPr lang="en-CA" sz="3700" dirty="0"/>
              <a:t>Scope:</a:t>
            </a:r>
            <a:br>
              <a:rPr lang="en-CA" sz="3700" dirty="0"/>
            </a:br>
            <a:r>
              <a:rPr lang="en-CA" sz="3700" dirty="0">
                <a:hlinkClick r:id="rId2"/>
              </a:rPr>
              <a:t>Classifier.py</a:t>
            </a:r>
            <a:r>
              <a:rPr lang="en-CA" sz="3700" dirty="0"/>
              <a:t> and classification flow in </a:t>
            </a:r>
            <a:r>
              <a:rPr lang="en-CA" sz="3700" dirty="0">
                <a:hlinkClick r:id="rId2"/>
              </a:rPr>
              <a:t>main.py:135</a:t>
            </a:r>
            <a:endParaRPr lang="en-CA" sz="3700" dirty="0"/>
          </a:p>
          <a:p>
            <a:r>
              <a:rPr lang="en-CA" sz="3700" dirty="0"/>
              <a:t>Bullets:</a:t>
            </a:r>
          </a:p>
          <a:p>
            <a:r>
              <a:rPr lang="en-CA" sz="3700" dirty="0"/>
              <a:t>Encapsulates supervised classification workflow around a target label.</a:t>
            </a:r>
          </a:p>
          <a:p>
            <a:r>
              <a:rPr lang="en-CA" sz="3700" dirty="0"/>
              <a:t>Supports multiple algorithms via model factory:</a:t>
            </a:r>
          </a:p>
          <a:p>
            <a:pPr lvl="1"/>
            <a:r>
              <a:rPr lang="en-CA" sz="3700" dirty="0"/>
              <a:t>Logistic Regression</a:t>
            </a:r>
          </a:p>
          <a:p>
            <a:pPr lvl="1"/>
            <a:r>
              <a:rPr lang="en-CA" sz="3700" dirty="0"/>
              <a:t>KNN Classifier</a:t>
            </a:r>
          </a:p>
          <a:p>
            <a:pPr lvl="1"/>
            <a:r>
              <a:rPr lang="en-CA" sz="3700" dirty="0"/>
              <a:t>Decision Tree</a:t>
            </a:r>
          </a:p>
          <a:p>
            <a:pPr lvl="1"/>
            <a:r>
              <a:rPr lang="en-CA" sz="3700" dirty="0"/>
              <a:t>Random Forest</a:t>
            </a:r>
          </a:p>
          <a:p>
            <a:pPr lvl="1"/>
            <a:r>
              <a:rPr lang="en-CA" sz="3700" dirty="0"/>
              <a:t>SVC</a:t>
            </a:r>
          </a:p>
          <a:p>
            <a:pPr lvl="1"/>
            <a:r>
              <a:rPr lang="en-CA" sz="3700" dirty="0"/>
              <a:t>ANN (TensorFlow/</a:t>
            </a:r>
            <a:r>
              <a:rPr lang="en-CA" sz="3700" dirty="0" err="1"/>
              <a:t>Keras</a:t>
            </a:r>
            <a:r>
              <a:rPr lang="en-CA" sz="3700" dirty="0"/>
              <a:t>)</a:t>
            </a:r>
          </a:p>
          <a:p>
            <a:r>
              <a:rPr lang="en-CA" sz="3700" dirty="0"/>
              <a:t>Provides unified fit, predict, and score interfaces.</a:t>
            </a:r>
          </a:p>
          <a:p>
            <a:r>
              <a:rPr lang="en-CA" sz="3700" dirty="0"/>
              <a:t>Includes KNN tuning utility to select best neighbor count.</a:t>
            </a:r>
          </a:p>
          <a:p>
            <a:r>
              <a:rPr lang="en-CA" sz="3700" dirty="0"/>
              <a:t>Supports metric evaluation:</a:t>
            </a:r>
          </a:p>
          <a:p>
            <a:pPr lvl="1"/>
            <a:r>
              <a:rPr lang="en-CA" sz="3700" dirty="0"/>
              <a:t>Accuracy</a:t>
            </a:r>
          </a:p>
          <a:p>
            <a:pPr lvl="1"/>
            <a:r>
              <a:rPr lang="en-CA" sz="3700" dirty="0"/>
              <a:t>Macro F1</a:t>
            </a:r>
          </a:p>
          <a:p>
            <a:pPr lvl="1"/>
            <a:r>
              <a:rPr lang="en-CA" sz="3700" dirty="0"/>
              <a:t>Macro Precision</a:t>
            </a:r>
          </a:p>
          <a:p>
            <a:pPr lvl="1"/>
            <a:r>
              <a:rPr lang="en-CA" sz="3700" dirty="0"/>
              <a:t>Macro Recall</a:t>
            </a:r>
          </a:p>
          <a:p>
            <a:r>
              <a:rPr lang="en-CA" sz="3700" dirty="0"/>
              <a:t>Generates confusion matrix visualization for error analysis.</a:t>
            </a:r>
          </a:p>
          <a:p>
            <a:br>
              <a:rPr lang="en-CA" sz="600" dirty="0"/>
            </a:br>
            <a:endParaRPr lang="en-CA" sz="600" dirty="0"/>
          </a:p>
        </p:txBody>
      </p:sp>
    </p:spTree>
    <p:extLst>
      <p:ext uri="{BB962C8B-B14F-4D97-AF65-F5344CB8AC3E}">
        <p14:creationId xmlns:p14="http://schemas.microsoft.com/office/powerpoint/2010/main" val="425868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BA0F388B-FE4B-B76C-7072-1381951A3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889447"/>
            <a:ext cx="8910886" cy="44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4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chart with numbers and a yellow square&#10;&#10;AI-generated content may be incorrect.">
            <a:extLst>
              <a:ext uri="{FF2B5EF4-FFF2-40B4-BE49-F238E27FC236}">
                <a16:creationId xmlns:a16="http://schemas.microsoft.com/office/drawing/2014/main" id="{F4585F36-8ADD-6F47-1F21-0C2A192CB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15961" y="918546"/>
            <a:ext cx="6639112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3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6680E-C369-8AFB-0A30-4349B6D2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CA" sz="2800">
                <a:solidFill>
                  <a:srgbClr val="FFFFFF"/>
                </a:solidFill>
              </a:rPr>
              <a:t>Enable users to enter diamond features (sample form or JSON) and get predicted Cut quality using saved ANN model bundle.</a:t>
            </a:r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82C3-1A22-7147-6ED8-519AFF6F7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CA" sz="2000" dirty="0"/>
              <a:t>ANN Inference Test Flow using </a:t>
            </a:r>
            <a:r>
              <a:rPr lang="en-CA" sz="2000" dirty="0">
                <a:hlinkClick r:id="rId2"/>
              </a:rPr>
              <a:t>predict_svc.py</a:t>
            </a:r>
            <a:endParaRPr lang="en-CA" sz="2000" dirty="0"/>
          </a:p>
          <a:p>
            <a:r>
              <a:rPr lang="en-CA" sz="2000" b="1" dirty="0"/>
              <a:t>User sample form fields (example)</a:t>
            </a:r>
            <a:endParaRPr lang="en-CA" sz="2000" dirty="0"/>
          </a:p>
          <a:p>
            <a:r>
              <a:rPr lang="en-CA" sz="2000" dirty="0"/>
              <a:t>carat: 0.70</a:t>
            </a:r>
          </a:p>
          <a:p>
            <a:r>
              <a:rPr lang="en-CA" sz="2000" dirty="0"/>
              <a:t>color: E</a:t>
            </a:r>
          </a:p>
          <a:p>
            <a:r>
              <a:rPr lang="en-CA" sz="2000" dirty="0"/>
              <a:t>clarity: VS2</a:t>
            </a:r>
          </a:p>
          <a:p>
            <a:r>
              <a:rPr lang="en-CA" sz="2000" dirty="0"/>
              <a:t>depth: 61.5</a:t>
            </a:r>
          </a:p>
          <a:p>
            <a:r>
              <a:rPr lang="en-CA" sz="2000" dirty="0"/>
              <a:t>table: 57</a:t>
            </a:r>
          </a:p>
          <a:p>
            <a:r>
              <a:rPr lang="en-CA" sz="2000" dirty="0"/>
              <a:t>x: 5.70</a:t>
            </a:r>
          </a:p>
          <a:p>
            <a:r>
              <a:rPr lang="en-CA" sz="2000" dirty="0"/>
              <a:t>y: 5.72</a:t>
            </a:r>
          </a:p>
          <a:p>
            <a:r>
              <a:rPr lang="en-CA" sz="2000" dirty="0"/>
              <a:t>z: 3.52</a:t>
            </a:r>
          </a:p>
          <a:p>
            <a:r>
              <a:rPr lang="en-CA" sz="2000" b="1" dirty="0"/>
              <a:t>Expected output</a:t>
            </a:r>
            <a:endParaRPr lang="en-CA" sz="2000" dirty="0"/>
          </a:p>
          <a:p>
            <a:r>
              <a:rPr lang="en-CA" sz="2000" dirty="0"/>
              <a:t>Predicted cut: Ideal (example)</a:t>
            </a:r>
          </a:p>
          <a:p>
            <a:pPr marL="0" indent="0">
              <a:buNone/>
            </a:pPr>
            <a:br>
              <a:rPr lang="en-CA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9002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449B7-40C1-E182-99B7-E542F3F6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7"/>
            <a:ext cx="6117158" cy="41751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9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70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0C73-7C87-8866-266F-28D25816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  <p:pic>
        <p:nvPicPr>
          <p:cNvPr id="5" name="Content Placeholder 4" descr="A group of blue bars&#10;&#10;AI-generated content may be incorrect.">
            <a:extLst>
              <a:ext uri="{FF2B5EF4-FFF2-40B4-BE49-F238E27FC236}">
                <a16:creationId xmlns:a16="http://schemas.microsoft.com/office/drawing/2014/main" id="{0CAA298C-05CA-BFE8-34BE-004CF016F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378" y="1073609"/>
            <a:ext cx="8859795" cy="510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9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563</Words>
  <Application>Microsoft Macintosh PowerPoint</Application>
  <PresentationFormat>Widescreen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Diamonds Predictor Platform </vt:lpstr>
      <vt:lpstr>Diamonds Dataset: What We Are Predicting and Why</vt:lpstr>
      <vt:lpstr>Business Value</vt:lpstr>
      <vt:lpstr>Main Pipeline Controller </vt:lpstr>
      <vt:lpstr>Analyzer Module for Data Health and EDA </vt:lpstr>
      <vt:lpstr>PowerPoint Presentation</vt:lpstr>
      <vt:lpstr>PowerPoint Presentation</vt:lpstr>
      <vt:lpstr>PowerPoint Presentation</vt:lpstr>
      <vt:lpstr>Classifier Module for Cut Prediction </vt:lpstr>
      <vt:lpstr>PowerPoint Presentation</vt:lpstr>
      <vt:lpstr>PowerPoint Presentation</vt:lpstr>
      <vt:lpstr>Enable users to enter diamond features (sample form or JSON) and get predicted Cut quality using saved ANN model bundle.</vt:lpstr>
      <vt:lpstr>QA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Abhay Pratap Singh</dc:creator>
  <cp:lastModifiedBy>Abhay Pratap Singh</cp:lastModifiedBy>
  <cp:revision>5</cp:revision>
  <dcterms:created xsi:type="dcterms:W3CDTF">2026-03-13T23:46:13Z</dcterms:created>
  <dcterms:modified xsi:type="dcterms:W3CDTF">2026-03-16T04:08:19Z</dcterms:modified>
</cp:coreProperties>
</file>